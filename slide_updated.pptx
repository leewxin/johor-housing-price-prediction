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Courier New Bold" panose="02070609020205020404" pitchFamily="49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 title, course code, and team.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Frame the information asymmetry problem buyers face versus developers and investors.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Position AVMs and RF as an established approach; cite two studies and note what drives accuracy differences.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the three data sources and the resulting raw dataset size.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four cleaning issues; item four is the key methodological contribution.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three candidate models and the final feature set, noting tenure was dropped.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database schema and the two Streamlit app pages.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screenshots of the three application pages.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the comparison table; Random Forest is the selected model.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Compare our R-squared against two published studies; explain the shared ceiling.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counter-intuitive bathrooms finding and the multicollinearity investigation.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Discuss missing features and selection bias as the two main limitations.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Outline four directions for future work.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by restating the project's value: rigor and honest uncertainty, not a headline metric. Invite questions.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4.sv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10287000" y="6667500"/>
            <a:ext cx="8572500" cy="4000500"/>
          </a:xfrm>
          <a:custGeom>
            <a:avLst/>
            <a:gdLst/>
            <a:ahLst/>
            <a:cxnLst/>
            <a:rect l="l" t="t" r="r" b="b"/>
            <a:pathLst>
              <a:path w="8572500" h="4000500">
                <a:moveTo>
                  <a:pt x="0" y="0"/>
                </a:moveTo>
                <a:lnTo>
                  <a:pt x="8572500" y="0"/>
                </a:lnTo>
                <a:lnTo>
                  <a:pt x="8572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7903" y="3067745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BS23124 — DATA MINING AND DATA WAREHOUSING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3744020"/>
            <a:ext cx="14665328" cy="140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Decision Support System for Johor Property Price Estimation Using Data Mining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526976"/>
            <a:ext cx="17970503" cy="434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Mini Project Presentation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2500" y="6616008"/>
            <a:ext cx="16383000" cy="9525"/>
            <a:chOff x="0" y="0"/>
            <a:chExt cx="21844000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9435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77903" y="6946201"/>
            <a:ext cx="1682369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2B8C1"/>
                </a:solidFill>
                <a:latin typeface="Courier New"/>
                <a:ea typeface="Courier New"/>
                <a:cs typeface="Courier New"/>
                <a:sym typeface="Courier New"/>
              </a:rPr>
              <a:t>Team: Lee Wen Xin · Jaff Go · Chew See Yuan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3544805" cy="1436100"/>
          </a:xfrm>
          <a:custGeom>
            <a:avLst/>
            <a:gdLst/>
            <a:ahLst/>
            <a:cxnLst/>
            <a:rect l="l" t="t" r="r" b="b"/>
            <a:pathLst>
              <a:path w="3544805" h="1436100">
                <a:moveTo>
                  <a:pt x="0" y="0"/>
                </a:moveTo>
                <a:lnTo>
                  <a:pt x="3544805" y="0"/>
                </a:lnTo>
                <a:lnTo>
                  <a:pt x="3544805" y="1436100"/>
                </a:lnTo>
                <a:lnTo>
                  <a:pt x="0" y="143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01 / PROBLEM &amp; MOTIVATION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Buyers face the largest information gap in the property 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297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Buying a house is one of the largest financial decisions an ordinary person makes.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440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Developers and investors already have valuation tools and transaction data at their disposal.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7903" y="6583366"/>
            <a:ext cx="8072504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 b="1">
                <a:solidFill>
                  <a:srgbClr val="1F2C3F"/>
                </a:solidFill>
                <a:latin typeface="Arial Bold"/>
                <a:ea typeface="Arial Bold"/>
                <a:cs typeface="Arial Bold"/>
                <a:sym typeface="Arial Bold"/>
              </a:rPr>
              <a:t>Ordinary buyers face the greatest information asymmetry.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48800" y="4352925"/>
            <a:ext cx="7886700" cy="3228975"/>
            <a:chOff x="0" y="0"/>
            <a:chExt cx="10515600" cy="4305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15600" cy="4305300"/>
            </a:xfrm>
            <a:custGeom>
              <a:avLst/>
              <a:gdLst/>
              <a:ahLst/>
              <a:cxnLst/>
              <a:rect l="l" t="t" r="r" b="b"/>
              <a:pathLst>
                <a:path w="10515600" h="43053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464800" y="0"/>
                  </a:lnTo>
                  <a:cubicBezTo>
                    <a:pt x="10492867" y="0"/>
                    <a:pt x="10515600" y="22733"/>
                    <a:pt x="10515600" y="50800"/>
                  </a:cubicBezTo>
                  <a:lnTo>
                    <a:pt x="10515600" y="4254500"/>
                  </a:lnTo>
                  <a:cubicBezTo>
                    <a:pt x="10515600" y="4282567"/>
                    <a:pt x="10492867" y="4305300"/>
                    <a:pt x="10464800" y="4305300"/>
                  </a:cubicBezTo>
                  <a:lnTo>
                    <a:pt x="50800" y="4305300"/>
                  </a:lnTo>
                  <a:cubicBezTo>
                    <a:pt x="22733" y="4305300"/>
                    <a:pt x="0" y="4282567"/>
                    <a:pt x="0" y="42545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817103" y="4721228"/>
            <a:ext cx="711203" cy="101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9"/>
              </a:lnSpc>
            </a:pPr>
            <a:r>
              <a:rPr lang="en-US" sz="9000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7603" y="5245103"/>
            <a:ext cx="6973700" cy="173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sz="285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a house with these characteristics, what is a reasonable price — and is the asking price high, fair, or low?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02 / BACKGROUND &amp; RELATED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6823693" cy="106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Tree-based ensembles are the established approach for automated 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635253"/>
            <a:ext cx="14665328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Automated Valuation Models (AVM) are an established machine-learning application; tree-based ensembles like Random Forest are the standard choice.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47738" y="4071938"/>
            <a:ext cx="7972425" cy="5457825"/>
            <a:chOff x="0" y="0"/>
            <a:chExt cx="10629900" cy="727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29900" cy="7277100"/>
            </a:xfrm>
            <a:custGeom>
              <a:avLst/>
              <a:gdLst/>
              <a:ahLst/>
              <a:cxnLst/>
              <a:rect l="l" t="t" r="r" b="b"/>
              <a:pathLst>
                <a:path w="10629900" h="72771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0578973" y="0"/>
                  </a:lnTo>
                  <a:cubicBezTo>
                    <a:pt x="10607167" y="0"/>
                    <a:pt x="10629900" y="22733"/>
                    <a:pt x="10629900" y="50927"/>
                  </a:cubicBezTo>
                  <a:lnTo>
                    <a:pt x="10629900" y="7226173"/>
                  </a:lnTo>
                  <a:cubicBezTo>
                    <a:pt x="10629900" y="7254240"/>
                    <a:pt x="10607167" y="7277100"/>
                    <a:pt x="10578973" y="7277100"/>
                  </a:cubicBezTo>
                  <a:lnTo>
                    <a:pt x="50927" y="7277100"/>
                  </a:lnTo>
                  <a:cubicBezTo>
                    <a:pt x="22733" y="7277100"/>
                    <a:pt x="0" y="7254367"/>
                    <a:pt x="0" y="72261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444628" y="4521203"/>
            <a:ext cx="7681598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Oh, Hang &amp; Wang (2024)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4628" y="4978403"/>
            <a:ext cx="768159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Kuala Lumpur — terrace houses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4628" y="5359403"/>
            <a:ext cx="7189537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Random Forest was the strongest model, R² = 0.74–0.75 — somewhat higher, consistent with their larger, pre-filtered dataset.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67838" y="4071938"/>
            <a:ext cx="7972425" cy="5457825"/>
            <a:chOff x="0" y="0"/>
            <a:chExt cx="10629900" cy="727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29900" cy="7277100"/>
            </a:xfrm>
            <a:custGeom>
              <a:avLst/>
              <a:gdLst/>
              <a:ahLst/>
              <a:cxnLst/>
              <a:rect l="l" t="t" r="r" b="b"/>
              <a:pathLst>
                <a:path w="10629900" h="72771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0578973" y="0"/>
                  </a:lnTo>
                  <a:cubicBezTo>
                    <a:pt x="10607167" y="0"/>
                    <a:pt x="10629900" y="22733"/>
                    <a:pt x="10629900" y="50927"/>
                  </a:cubicBezTo>
                  <a:lnTo>
                    <a:pt x="10629900" y="7226173"/>
                  </a:lnTo>
                  <a:cubicBezTo>
                    <a:pt x="10629900" y="7254240"/>
                    <a:pt x="10607167" y="7277100"/>
                    <a:pt x="10578973" y="7277100"/>
                  </a:cubicBezTo>
                  <a:lnTo>
                    <a:pt x="50927" y="7277100"/>
                  </a:lnTo>
                  <a:cubicBezTo>
                    <a:pt x="22733" y="7277100"/>
                    <a:pt x="0" y="7254367"/>
                    <a:pt x="0" y="72261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9864728" y="4521203"/>
            <a:ext cx="7681598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Ho, Tang &amp; Wong (2021)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4728" y="4978403"/>
            <a:ext cx="768159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Hong Kong — ~40,000 transactions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4728" y="5359403"/>
            <a:ext cx="7189537" cy="122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Richer features (floor, orientation, transport distance) produced a substantially higher R² — feature availability sets the accuracy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03 / DATA SOURCES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sources combined into one raw dataset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328862"/>
            <a:ext cx="5216423" cy="1409700"/>
            <a:chOff x="0" y="0"/>
            <a:chExt cx="6955231" cy="187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55282" cy="1879600"/>
            </a:xfrm>
            <a:custGeom>
              <a:avLst/>
              <a:gdLst/>
              <a:ahLst/>
              <a:cxnLst/>
              <a:rect l="l" t="t" r="r" b="b"/>
              <a:pathLst>
                <a:path w="6955282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101" y="0"/>
                  </a:lnTo>
                  <a:cubicBezTo>
                    <a:pt x="6932295" y="0"/>
                    <a:pt x="6955282" y="22860"/>
                    <a:pt x="6955282" y="51181"/>
                  </a:cubicBezTo>
                  <a:lnTo>
                    <a:pt x="6955282" y="1828419"/>
                  </a:lnTo>
                  <a:cubicBezTo>
                    <a:pt x="6955282" y="1856613"/>
                    <a:pt x="6932422" y="1879600"/>
                    <a:pt x="6904101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368428" y="2701928"/>
            <a:ext cx="481764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Mudah.my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8428" y="3092453"/>
            <a:ext cx="481764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Scraped listings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35636" y="2328862"/>
            <a:ext cx="5216576" cy="1409700"/>
            <a:chOff x="0" y="0"/>
            <a:chExt cx="6955434" cy="187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55410" cy="1879600"/>
            </a:xfrm>
            <a:custGeom>
              <a:avLst/>
              <a:gdLst/>
              <a:ahLst/>
              <a:cxnLst/>
              <a:rect l="l" t="t" r="r" b="b"/>
              <a:pathLst>
                <a:path w="6955410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228" y="0"/>
                  </a:lnTo>
                  <a:cubicBezTo>
                    <a:pt x="6932422" y="0"/>
                    <a:pt x="6955410" y="22860"/>
                    <a:pt x="6955410" y="51181"/>
                  </a:cubicBezTo>
                  <a:lnTo>
                    <a:pt x="6955410" y="1828419"/>
                  </a:lnTo>
                  <a:cubicBezTo>
                    <a:pt x="6955410" y="1856613"/>
                    <a:pt x="6932549" y="1879600"/>
                    <a:pt x="6904228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6956327" y="2701928"/>
            <a:ext cx="481780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Kaggle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6327" y="3092453"/>
            <a:ext cx="4817802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Public dataset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23687" y="2328862"/>
            <a:ext cx="5216576" cy="1409700"/>
            <a:chOff x="0" y="0"/>
            <a:chExt cx="6955434" cy="187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55410" cy="1879600"/>
            </a:xfrm>
            <a:custGeom>
              <a:avLst/>
              <a:gdLst/>
              <a:ahLst/>
              <a:cxnLst/>
              <a:rect l="l" t="t" r="r" b="b"/>
              <a:pathLst>
                <a:path w="6955410" h="187960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04228" y="0"/>
                  </a:lnTo>
                  <a:cubicBezTo>
                    <a:pt x="6932422" y="0"/>
                    <a:pt x="6955410" y="22860"/>
                    <a:pt x="6955410" y="51181"/>
                  </a:cubicBezTo>
                  <a:lnTo>
                    <a:pt x="6955410" y="1828419"/>
                  </a:lnTo>
                  <a:cubicBezTo>
                    <a:pt x="6955410" y="1856613"/>
                    <a:pt x="6932549" y="1879600"/>
                    <a:pt x="6904228" y="1879600"/>
                  </a:cubicBezTo>
                  <a:lnTo>
                    <a:pt x="51181" y="1879600"/>
                  </a:lnTo>
                  <a:cubicBezTo>
                    <a:pt x="22860" y="1879600"/>
                    <a:pt x="0" y="1856740"/>
                    <a:pt x="0" y="182841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544377" y="2701928"/>
            <a:ext cx="481780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PropertyGuru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4377" y="3092453"/>
            <a:ext cx="4817802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Scraped listings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52500" y="4114800"/>
            <a:ext cx="4762500" cy="5410200"/>
            <a:chOff x="0" y="0"/>
            <a:chExt cx="6350000" cy="7213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7213600"/>
            </a:xfrm>
            <a:custGeom>
              <a:avLst/>
              <a:gdLst/>
              <a:ahLst/>
              <a:cxnLst/>
              <a:rect l="l" t="t" r="r" b="b"/>
              <a:pathLst>
                <a:path w="6350000" h="7213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299200" y="0"/>
                  </a:lnTo>
                  <a:cubicBezTo>
                    <a:pt x="6327267" y="0"/>
                    <a:pt x="6350000" y="22733"/>
                    <a:pt x="6350000" y="50800"/>
                  </a:cubicBezTo>
                  <a:lnTo>
                    <a:pt x="6350000" y="7162800"/>
                  </a:lnTo>
                  <a:cubicBezTo>
                    <a:pt x="6350000" y="7190867"/>
                    <a:pt x="6327267" y="7213600"/>
                    <a:pt x="6299200" y="7213600"/>
                  </a:cubicBezTo>
                  <a:lnTo>
                    <a:pt x="50800" y="7213600"/>
                  </a:lnTo>
                  <a:cubicBezTo>
                    <a:pt x="22733" y="7213600"/>
                    <a:pt x="0" y="7190867"/>
                    <a:pt x="0" y="71628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358903" y="5473703"/>
            <a:ext cx="4349753" cy="68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DD881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3,108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8903" y="6207128"/>
            <a:ext cx="434975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raw rows collected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903" y="6750053"/>
            <a:ext cx="4349753" cy="68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DD881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8903" y="7483478"/>
            <a:ext cx="434975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districts spanned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33500" y="7896225"/>
            <a:ext cx="114300" cy="114300"/>
            <a:chOff x="0" y="0"/>
            <a:chExt cx="152400" cy="152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04950" y="7896225"/>
            <a:ext cx="114300" cy="114300"/>
            <a:chOff x="0" y="0"/>
            <a:chExt cx="152400" cy="152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676400" y="7896225"/>
            <a:ext cx="114300" cy="114300"/>
            <a:chOff x="0" y="0"/>
            <a:chExt cx="152400" cy="152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847850" y="7896225"/>
            <a:ext cx="114300" cy="114300"/>
            <a:chOff x="0" y="0"/>
            <a:chExt cx="152400" cy="15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2019300" y="7896225"/>
            <a:ext cx="114300" cy="114300"/>
            <a:chOff x="0" y="0"/>
            <a:chExt cx="152400" cy="152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2190750" y="7896225"/>
            <a:ext cx="114300" cy="114300"/>
            <a:chOff x="0" y="0"/>
            <a:chExt cx="152400" cy="152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362200" y="7896225"/>
            <a:ext cx="114300" cy="114300"/>
            <a:chOff x="0" y="0"/>
            <a:chExt cx="152400" cy="152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2533650" y="7896225"/>
            <a:ext cx="114300" cy="114300"/>
            <a:chOff x="0" y="0"/>
            <a:chExt cx="152400" cy="152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2705100" y="7896225"/>
            <a:ext cx="114300" cy="114300"/>
            <a:chOff x="0" y="0"/>
            <a:chExt cx="152400" cy="152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333500" y="8067675"/>
            <a:ext cx="114300" cy="114300"/>
            <a:chOff x="0" y="0"/>
            <a:chExt cx="152400" cy="152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504950" y="8067675"/>
            <a:ext cx="114300" cy="114300"/>
            <a:chOff x="0" y="0"/>
            <a:chExt cx="152400" cy="152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676400" y="8067675"/>
            <a:ext cx="114300" cy="114300"/>
            <a:chOff x="0" y="0"/>
            <a:chExt cx="152400" cy="152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847850" y="8067675"/>
            <a:ext cx="114300" cy="114300"/>
            <a:chOff x="0" y="0"/>
            <a:chExt cx="152400" cy="152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2019300" y="8067675"/>
            <a:ext cx="114300" cy="114300"/>
            <a:chOff x="0" y="0"/>
            <a:chExt cx="152400" cy="152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2190750" y="8067675"/>
            <a:ext cx="114300" cy="114300"/>
            <a:chOff x="0" y="0"/>
            <a:chExt cx="152400" cy="152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2362200" y="8067675"/>
            <a:ext cx="114300" cy="114300"/>
            <a:chOff x="0" y="0"/>
            <a:chExt cx="152400" cy="152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2533650" y="8067675"/>
            <a:ext cx="114300" cy="114300"/>
            <a:chOff x="0" y="0"/>
            <a:chExt cx="152400" cy="1524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2705100" y="8067675"/>
            <a:ext cx="114300" cy="114300"/>
            <a:chOff x="0" y="0"/>
            <a:chExt cx="152400" cy="152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6086475" y="4105275"/>
            <a:ext cx="11258550" cy="5429250"/>
            <a:chOff x="0" y="0"/>
            <a:chExt cx="15011400" cy="7239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011400" cy="7239000"/>
            </a:xfrm>
            <a:custGeom>
              <a:avLst/>
              <a:gdLst/>
              <a:ahLst/>
              <a:cxnLst/>
              <a:rect l="l" t="t" r="r" b="b"/>
              <a:pathLst>
                <a:path w="15011400" h="72390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14960473" y="0"/>
                  </a:lnTo>
                  <a:cubicBezTo>
                    <a:pt x="14988667" y="0"/>
                    <a:pt x="15011400" y="22860"/>
                    <a:pt x="15011400" y="50927"/>
                  </a:cubicBezTo>
                  <a:lnTo>
                    <a:pt x="15011400" y="7188073"/>
                  </a:lnTo>
                  <a:cubicBezTo>
                    <a:pt x="15011400" y="7216267"/>
                    <a:pt x="14988539" y="7239000"/>
                    <a:pt x="14960473" y="7239000"/>
                  </a:cubicBezTo>
                  <a:lnTo>
                    <a:pt x="50927" y="7239000"/>
                  </a:lnTo>
                  <a:cubicBezTo>
                    <a:pt x="22860" y="7239000"/>
                    <a:pt x="0" y="7216140"/>
                    <a:pt x="0" y="718807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086475" y="4114800"/>
            <a:ext cx="11253788" cy="5410200"/>
            <a:chOff x="0" y="0"/>
            <a:chExt cx="1743506" cy="83818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743506" cy="838182"/>
            </a:xfrm>
            <a:custGeom>
              <a:avLst/>
              <a:gdLst/>
              <a:ahLst/>
              <a:cxnLst/>
              <a:rect l="l" t="t" r="r" b="b"/>
              <a:pathLst>
                <a:path w="1743506" h="838182">
                  <a:moveTo>
                    <a:pt x="0" y="0"/>
                  </a:moveTo>
                  <a:lnTo>
                    <a:pt x="1743506" y="0"/>
                  </a:lnTo>
                  <a:lnTo>
                    <a:pt x="1743506" y="838182"/>
                  </a:lnTo>
                  <a:lnTo>
                    <a:pt x="0" y="8381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900000" y="4939608"/>
          <a:ext cx="9600000" cy="32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00000"/>
                <a:gridCol w="2400000"/>
                <a:gridCol w="3200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Raw rows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Districts covered</a:t>
                      </a:r>
                    </a:p>
                  </a:txBody>
                  <a:tcPr marL="137160" marR="91440" marT="60960" marB="60960">
                    <a:solidFill>
                      <a:srgbClr val="101B2B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Mudah.my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1,968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Kaggle (public dataset)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1,013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PropertyGuru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01B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37160" marR="91440" marT="60960" marB="60960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Total (raw, pre-cleaning)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3,108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B2B"/>
                          </a:solidFill>
                          <a:latin typeface="Arial"/>
                        </a:rPr>
                        <a:t>18 (after consolidation)</a:t>
                      </a:r>
                    </a:p>
                  </a:txBody>
                  <a:tcPr marL="137160" marR="91440" marT="60960" marB="60960">
                    <a:solidFill>
                      <a:srgbClr val="F6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04 / DATA CLEANING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Four issues shaped the cleaning pipeline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290762"/>
            <a:ext cx="16392525" cy="871538"/>
            <a:chOff x="0" y="0"/>
            <a:chExt cx="21856700" cy="1162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92228" y="2549528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9928" y="2482853"/>
            <a:ext cx="14681711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Location recovery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395 rows mislabeled as “Johor” (a state, not a district) → 392 recovered from the address field.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7738" y="3343275"/>
            <a:ext cx="16392525" cy="871538"/>
            <a:chOff x="0" y="0"/>
            <a:chExt cx="21856700" cy="1162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92228" y="3602041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39928" y="3535366"/>
            <a:ext cx="10829096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Region consolidation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226 fragmented location labels merged into 18 core districts.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7738" y="4395788"/>
            <a:ext cx="16392525" cy="871538"/>
            <a:chOff x="0" y="0"/>
            <a:chExt cx="21856700" cy="1162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6700" cy="1162050"/>
            </a:xfrm>
            <a:custGeom>
              <a:avLst/>
              <a:gdLst/>
              <a:ahLst/>
              <a:cxnLst/>
              <a:rect l="l" t="t" r="r" b="b"/>
              <a:pathLst>
                <a:path w="21856700" h="116205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21805392" y="0"/>
                  </a:lnTo>
                  <a:cubicBezTo>
                    <a:pt x="21833712" y="0"/>
                    <a:pt x="21856700" y="22987"/>
                    <a:pt x="21856700" y="51308"/>
                  </a:cubicBezTo>
                  <a:lnTo>
                    <a:pt x="21856700" y="1110742"/>
                  </a:lnTo>
                  <a:cubicBezTo>
                    <a:pt x="21856700" y="1139063"/>
                    <a:pt x="21833712" y="1162050"/>
                    <a:pt x="21805392" y="1162050"/>
                  </a:cubicBezTo>
                  <a:lnTo>
                    <a:pt x="51308" y="1162050"/>
                  </a:lnTo>
                  <a:cubicBezTo>
                    <a:pt x="22987" y="1162050"/>
                    <a:pt x="0" y="1139063"/>
                    <a:pt x="0" y="111074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92228" y="4654553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596475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9928" y="4587878"/>
            <a:ext cx="14021791" cy="44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Outlier handling </a:t>
            </a: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— built-up area contained impossible values (one row at 213,939 sqft) → invalid range filtered.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2975" y="5443538"/>
            <a:ext cx="16402050" cy="1362075"/>
            <a:chOff x="0" y="0"/>
            <a:chExt cx="21869400" cy="1816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869400" cy="1816100"/>
            </a:xfrm>
            <a:custGeom>
              <a:avLst/>
              <a:gdLst/>
              <a:ahLst/>
              <a:cxnLst/>
              <a:rect l="l" t="t" r="r" b="b"/>
              <a:pathLst>
                <a:path w="21869400" h="18161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1817837" y="0"/>
                  </a:lnTo>
                  <a:cubicBezTo>
                    <a:pt x="21846285" y="0"/>
                    <a:pt x="21869400" y="23114"/>
                    <a:pt x="21869400" y="51562"/>
                  </a:cubicBezTo>
                  <a:lnTo>
                    <a:pt x="21869400" y="1764538"/>
                  </a:lnTo>
                  <a:cubicBezTo>
                    <a:pt x="21869400" y="1792986"/>
                    <a:pt x="21846285" y="1816100"/>
                    <a:pt x="21817837" y="1816100"/>
                  </a:cubicBezTo>
                  <a:lnTo>
                    <a:pt x="51562" y="1816100"/>
                  </a:lnTo>
                  <a:cubicBezTo>
                    <a:pt x="23114" y="1816100"/>
                    <a:pt x="0" y="1792986"/>
                    <a:pt x="0" y="1764538"/>
                  </a:cubicBezTo>
                  <a:close/>
                </a:path>
              </a:pathLst>
            </a:custGeom>
            <a:solidFill>
              <a:srgbClr val="F7E4D4"/>
            </a:solidFill>
            <a:ln w="19050" cap="sq">
              <a:solidFill>
                <a:srgbClr val="DD881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01753" y="5754691"/>
            <a:ext cx="40640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9D53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9453" y="5688016"/>
            <a:ext cx="15489431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Duplicate removal &amp; leakage-safe split </a:t>
            </a: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— 597 fully duplicate rows found (~19%). Random splitting would leak duplicates across train/test, so we switched to </a:t>
            </a: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GroupShuffleSplit </a:t>
            </a: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grouped by property characteristics.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9453" y="6950000"/>
            <a:ext cx="15489431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596475"/>
                </a:solidFill>
                <a:latin typeface="Arial"/>
              </a:rPr>
              <a:t>Now automated &amp; reproducible: build_database.py scripts items 1 and 3 (district mapping + 200-10,000 sqft outlier/median-impute check) with logged before/after counts on every run - re-running it against this dataset finds 0 further anomalies, confirming the original manual clean-up was 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05 / MODELING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models, five features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328862"/>
            <a:ext cx="5222824" cy="1462983"/>
            <a:chOff x="0" y="0"/>
            <a:chExt cx="6963766" cy="1950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63791" cy="1950720"/>
            </a:xfrm>
            <a:custGeom>
              <a:avLst/>
              <a:gdLst/>
              <a:ahLst/>
              <a:cxnLst/>
              <a:rect l="l" t="t" r="r" b="b"/>
              <a:pathLst>
                <a:path w="6963791" h="195072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12610" y="0"/>
                  </a:lnTo>
                  <a:cubicBezTo>
                    <a:pt x="6940803" y="0"/>
                    <a:pt x="6963791" y="22860"/>
                    <a:pt x="6963791" y="51181"/>
                  </a:cubicBezTo>
                  <a:lnTo>
                    <a:pt x="6963791" y="1899539"/>
                  </a:lnTo>
                  <a:cubicBezTo>
                    <a:pt x="6963791" y="1927733"/>
                    <a:pt x="6940931" y="1950720"/>
                    <a:pt x="6912610" y="1950720"/>
                  </a:cubicBezTo>
                  <a:lnTo>
                    <a:pt x="51181" y="1950720"/>
                  </a:lnTo>
                  <a:cubicBezTo>
                    <a:pt x="22987" y="1950720"/>
                    <a:pt x="0" y="1927860"/>
                    <a:pt x="0" y="189953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368428" y="2701928"/>
            <a:ext cx="482467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Linear Regression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8428" y="3082928"/>
            <a:ext cx="4824679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Baseline model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42037" y="2328862"/>
            <a:ext cx="5222977" cy="1462983"/>
            <a:chOff x="0" y="0"/>
            <a:chExt cx="6963969" cy="19506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4045" cy="1950720"/>
            </a:xfrm>
            <a:custGeom>
              <a:avLst/>
              <a:gdLst/>
              <a:ahLst/>
              <a:cxnLst/>
              <a:rect l="l" t="t" r="r" b="b"/>
              <a:pathLst>
                <a:path w="6964045" h="1950720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6912864" y="0"/>
                  </a:lnTo>
                  <a:cubicBezTo>
                    <a:pt x="6941058" y="0"/>
                    <a:pt x="6964045" y="22860"/>
                    <a:pt x="6964045" y="51181"/>
                  </a:cubicBezTo>
                  <a:lnTo>
                    <a:pt x="6964045" y="1899539"/>
                  </a:lnTo>
                  <a:cubicBezTo>
                    <a:pt x="6964045" y="1927733"/>
                    <a:pt x="6941185" y="1950720"/>
                    <a:pt x="6912864" y="1950720"/>
                  </a:cubicBezTo>
                  <a:lnTo>
                    <a:pt x="51181" y="1950720"/>
                  </a:lnTo>
                  <a:cubicBezTo>
                    <a:pt x="22987" y="1950720"/>
                    <a:pt x="0" y="1927860"/>
                    <a:pt x="0" y="189953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6962727" y="2701928"/>
            <a:ext cx="4824841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Decision Tree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62727" y="3082928"/>
            <a:ext cx="4824841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Overfits easily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41251" y="2333625"/>
            <a:ext cx="5194249" cy="1453458"/>
            <a:chOff x="0" y="0"/>
            <a:chExt cx="6925666" cy="19379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25691" cy="1937893"/>
            </a:xfrm>
            <a:custGeom>
              <a:avLst/>
              <a:gdLst/>
              <a:ahLst/>
              <a:cxnLst/>
              <a:rect l="l" t="t" r="r" b="b"/>
              <a:pathLst>
                <a:path w="6925691" h="193789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874891" y="0"/>
                  </a:lnTo>
                  <a:cubicBezTo>
                    <a:pt x="6902958" y="0"/>
                    <a:pt x="6925691" y="22733"/>
                    <a:pt x="6925691" y="50800"/>
                  </a:cubicBezTo>
                  <a:lnTo>
                    <a:pt x="6925691" y="1887093"/>
                  </a:lnTo>
                  <a:cubicBezTo>
                    <a:pt x="6925691" y="1915160"/>
                    <a:pt x="6902958" y="1937893"/>
                    <a:pt x="6874891" y="1937893"/>
                  </a:cubicBezTo>
                  <a:lnTo>
                    <a:pt x="50800" y="1937893"/>
                  </a:lnTo>
                  <a:cubicBezTo>
                    <a:pt x="22733" y="1937893"/>
                    <a:pt x="0" y="1915160"/>
                    <a:pt x="0" y="1887093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547654" y="2692403"/>
            <a:ext cx="482467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Random Forest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7654" y="3073403"/>
            <a:ext cx="4824679" cy="36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B6BECB"/>
                </a:solidFill>
                <a:latin typeface="Arial"/>
                <a:ea typeface="Arial"/>
                <a:cs typeface="Arial"/>
                <a:sym typeface="Arial"/>
              </a:rPr>
              <a:t>Ensemble — resists overfitting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903" y="4336351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FINAL FEATURE SET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2500" y="4815783"/>
            <a:ext cx="1509712" cy="561975"/>
            <a:chOff x="0" y="0"/>
            <a:chExt cx="2012950" cy="749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12950" cy="749300"/>
            </a:xfrm>
            <a:custGeom>
              <a:avLst/>
              <a:gdLst/>
              <a:ahLst/>
              <a:cxnLst/>
              <a:rect l="l" t="t" r="r" b="b"/>
              <a:pathLst>
                <a:path w="2012950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708150" y="0"/>
                  </a:lnTo>
                  <a:cubicBezTo>
                    <a:pt x="1876425" y="0"/>
                    <a:pt x="2012950" y="136525"/>
                    <a:pt x="2012950" y="304800"/>
                  </a:cubicBezTo>
                  <a:lnTo>
                    <a:pt x="2012950" y="444500"/>
                  </a:lnTo>
                  <a:cubicBezTo>
                    <a:pt x="2012950" y="612775"/>
                    <a:pt x="1876425" y="749300"/>
                    <a:pt x="1708150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62050" y="5030095"/>
            <a:ext cx="133350" cy="133350"/>
            <a:chOff x="0" y="0"/>
            <a:chExt cx="177800" cy="177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409700" y="4939608"/>
            <a:ext cx="86201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District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614612" y="4815783"/>
            <a:ext cx="2272455" cy="561975"/>
            <a:chOff x="0" y="0"/>
            <a:chExt cx="3029941" cy="749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29966" cy="749300"/>
            </a:xfrm>
            <a:custGeom>
              <a:avLst/>
              <a:gdLst/>
              <a:ahLst/>
              <a:cxnLst/>
              <a:rect l="l" t="t" r="r" b="b"/>
              <a:pathLst>
                <a:path w="3029966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725166" y="0"/>
                  </a:lnTo>
                  <a:cubicBezTo>
                    <a:pt x="2893441" y="0"/>
                    <a:pt x="3029966" y="136525"/>
                    <a:pt x="3029966" y="304800"/>
                  </a:cubicBezTo>
                  <a:lnTo>
                    <a:pt x="3029966" y="444500"/>
                  </a:lnTo>
                  <a:cubicBezTo>
                    <a:pt x="3029966" y="612775"/>
                    <a:pt x="2893441" y="749300"/>
                    <a:pt x="2725166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2824162" y="5030095"/>
            <a:ext cx="152400" cy="133350"/>
            <a:chOff x="0" y="0"/>
            <a:chExt cx="203200" cy="177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200" cy="177800"/>
            </a:xfrm>
            <a:custGeom>
              <a:avLst/>
              <a:gdLst/>
              <a:ahLst/>
              <a:cxnLst/>
              <a:rect l="l" t="t" r="r" b="b"/>
              <a:pathLst>
                <a:path w="203200" h="177800">
                  <a:moveTo>
                    <a:pt x="0" y="0"/>
                  </a:moveTo>
                  <a:lnTo>
                    <a:pt x="203200" y="0"/>
                  </a:lnTo>
                  <a:lnTo>
                    <a:pt x="2032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090862" y="4939608"/>
            <a:ext cx="160570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Property type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039468" y="4815783"/>
            <a:ext cx="2182120" cy="561975"/>
            <a:chOff x="0" y="0"/>
            <a:chExt cx="2909494" cy="749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09443" cy="749300"/>
            </a:xfrm>
            <a:custGeom>
              <a:avLst/>
              <a:gdLst/>
              <a:ahLst/>
              <a:cxnLst/>
              <a:rect l="l" t="t" r="r" b="b"/>
              <a:pathLst>
                <a:path w="2909443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604643" y="0"/>
                  </a:lnTo>
                  <a:cubicBezTo>
                    <a:pt x="2772918" y="0"/>
                    <a:pt x="2909443" y="136525"/>
                    <a:pt x="2909443" y="304800"/>
                  </a:cubicBezTo>
                  <a:lnTo>
                    <a:pt x="2909443" y="444500"/>
                  </a:lnTo>
                  <a:cubicBezTo>
                    <a:pt x="2909443" y="612775"/>
                    <a:pt x="2772918" y="749300"/>
                    <a:pt x="2604643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234730" y="5015808"/>
            <a:ext cx="161925" cy="161925"/>
            <a:chOff x="0" y="0"/>
            <a:chExt cx="215900" cy="2159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>
                  <a:moveTo>
                    <a:pt x="0" y="0"/>
                  </a:moveTo>
                  <a:lnTo>
                    <a:pt x="215900" y="0"/>
                  </a:lnTo>
                  <a:lnTo>
                    <a:pt x="215900" y="215900"/>
                  </a:lnTo>
                  <a:lnTo>
                    <a:pt x="0" y="215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  <a:ln w="28575" cap="sq">
              <a:solidFill>
                <a:srgbClr val="3C485B"/>
              </a:solidFill>
              <a:prstDash val="solid"/>
              <a:miter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496668" y="4939608"/>
            <a:ext cx="153442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Built-up area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373988" y="4815783"/>
            <a:ext cx="1896066" cy="561975"/>
            <a:chOff x="0" y="0"/>
            <a:chExt cx="2528087" cy="7493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28062" cy="749300"/>
            </a:xfrm>
            <a:custGeom>
              <a:avLst/>
              <a:gdLst/>
              <a:ahLst/>
              <a:cxnLst/>
              <a:rect l="l" t="t" r="r" b="b"/>
              <a:pathLst>
                <a:path w="2528062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223262" y="0"/>
                  </a:lnTo>
                  <a:cubicBezTo>
                    <a:pt x="2391537" y="0"/>
                    <a:pt x="2528062" y="136525"/>
                    <a:pt x="2528062" y="304800"/>
                  </a:cubicBezTo>
                  <a:lnTo>
                    <a:pt x="2528062" y="444500"/>
                  </a:lnTo>
                  <a:cubicBezTo>
                    <a:pt x="2528062" y="612775"/>
                    <a:pt x="2391537" y="749300"/>
                    <a:pt x="2223262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583538" y="5030095"/>
            <a:ext cx="133350" cy="133350"/>
            <a:chOff x="0" y="0"/>
            <a:chExt cx="177800" cy="177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cubicBezTo>
                    <a:pt x="138049" y="0"/>
                    <a:pt x="177800" y="39751"/>
                    <a:pt x="177800" y="88900"/>
                  </a:cubicBezTo>
                  <a:cubicBezTo>
                    <a:pt x="177800" y="138049"/>
                    <a:pt x="138049" y="177800"/>
                    <a:pt x="88900" y="177800"/>
                  </a:cubicBez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7831188" y="4939608"/>
            <a:ext cx="124836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Bedrooms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422454" y="4815783"/>
            <a:ext cx="1967513" cy="561975"/>
            <a:chOff x="0" y="0"/>
            <a:chExt cx="2623350" cy="7493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623312" cy="749300"/>
            </a:xfrm>
            <a:custGeom>
              <a:avLst/>
              <a:gdLst/>
              <a:ahLst/>
              <a:cxnLst/>
              <a:rect l="l" t="t" r="r" b="b"/>
              <a:pathLst>
                <a:path w="2623312" h="7493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318512" y="0"/>
                  </a:lnTo>
                  <a:cubicBezTo>
                    <a:pt x="2486787" y="0"/>
                    <a:pt x="2623312" y="136525"/>
                    <a:pt x="2623312" y="304800"/>
                  </a:cubicBezTo>
                  <a:lnTo>
                    <a:pt x="2623312" y="444500"/>
                  </a:lnTo>
                  <a:cubicBezTo>
                    <a:pt x="2623312" y="612775"/>
                    <a:pt x="2486787" y="749300"/>
                    <a:pt x="2318512" y="749300"/>
                  </a:cubicBezTo>
                  <a:lnTo>
                    <a:pt x="304800" y="749300"/>
                  </a:lnTo>
                  <a:cubicBezTo>
                    <a:pt x="136525" y="749300"/>
                    <a:pt x="0" y="612775"/>
                    <a:pt x="0" y="444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2700000">
            <a:off x="9632004" y="5030095"/>
            <a:ext cx="133350" cy="133350"/>
            <a:chOff x="0" y="0"/>
            <a:chExt cx="177800" cy="177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800" y="0"/>
                  </a:lnTo>
                  <a:lnTo>
                    <a:pt x="1778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3C485B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9879654" y="4939608"/>
            <a:ext cx="13198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Bathrooms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7903" y="5660327"/>
            <a:ext cx="1797050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Tenure was dropped — missing in over 90% of scraped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06 / 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A relational store behind a t</a:t>
            </a:r>
            <a:r>
              <a:rPr lang="en-US" altLang="zh-CN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hree</a:t>
            </a:r>
            <a:r>
              <a:rPr lang="en-US" sz="3600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-page decision tool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349503"/>
            <a:ext cx="7572889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DATABASE — SQLITE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47738" y="2786062"/>
            <a:ext cx="2505075" cy="638175"/>
            <a:chOff x="0" y="0"/>
            <a:chExt cx="3340100" cy="850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40100" cy="850900"/>
            </a:xfrm>
            <a:custGeom>
              <a:avLst/>
              <a:gdLst/>
              <a:ahLst/>
              <a:cxnLst/>
              <a:rect l="l" t="t" r="r" b="b"/>
              <a:pathLst>
                <a:path w="3340100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3288538" y="0"/>
                  </a:lnTo>
                  <a:cubicBezTo>
                    <a:pt x="3316986" y="0"/>
                    <a:pt x="3340100" y="23114"/>
                    <a:pt x="3340100" y="51562"/>
                  </a:cubicBezTo>
                  <a:lnTo>
                    <a:pt x="3340100" y="799338"/>
                  </a:lnTo>
                  <a:cubicBezTo>
                    <a:pt x="3340100" y="827786"/>
                    <a:pt x="3316986" y="850900"/>
                    <a:pt x="3288538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96978" y="2968628"/>
            <a:ext cx="20828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master_property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76638" y="2786062"/>
            <a:ext cx="2093709" cy="638175"/>
            <a:chOff x="0" y="0"/>
            <a:chExt cx="2791612" cy="850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91587" cy="850900"/>
            </a:xfrm>
            <a:custGeom>
              <a:avLst/>
              <a:gdLst/>
              <a:ahLst/>
              <a:cxnLst/>
              <a:rect l="l" t="t" r="r" b="b"/>
              <a:pathLst>
                <a:path w="2791587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740025" y="0"/>
                  </a:lnTo>
                  <a:cubicBezTo>
                    <a:pt x="2768473" y="0"/>
                    <a:pt x="2791587" y="23114"/>
                    <a:pt x="2791587" y="51562"/>
                  </a:cubicBezTo>
                  <a:lnTo>
                    <a:pt x="2791587" y="799338"/>
                  </a:lnTo>
                  <a:cubicBezTo>
                    <a:pt x="2791587" y="827786"/>
                    <a:pt x="2768473" y="850900"/>
                    <a:pt x="2740025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825878" y="2968628"/>
            <a:ext cx="167143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94172" y="2786062"/>
            <a:ext cx="2093709" cy="638175"/>
            <a:chOff x="0" y="0"/>
            <a:chExt cx="2791612" cy="850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91587" cy="850900"/>
            </a:xfrm>
            <a:custGeom>
              <a:avLst/>
              <a:gdLst/>
              <a:ahLst/>
              <a:cxnLst/>
              <a:rect l="l" t="t" r="r" b="b"/>
              <a:pathLst>
                <a:path w="2791587" h="850900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740025" y="0"/>
                  </a:lnTo>
                  <a:cubicBezTo>
                    <a:pt x="2768473" y="0"/>
                    <a:pt x="2791587" y="23114"/>
                    <a:pt x="2791587" y="51562"/>
                  </a:cubicBezTo>
                  <a:lnTo>
                    <a:pt x="2791587" y="799338"/>
                  </a:lnTo>
                  <a:cubicBezTo>
                    <a:pt x="2791587" y="827786"/>
                    <a:pt x="2768473" y="850900"/>
                    <a:pt x="2740025" y="850900"/>
                  </a:cubicBezTo>
                  <a:lnTo>
                    <a:pt x="51562" y="850900"/>
                  </a:lnTo>
                  <a:cubicBezTo>
                    <a:pt x="23114" y="850900"/>
                    <a:pt x="0" y="827786"/>
                    <a:pt x="0" y="7993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043412" y="2968628"/>
            <a:ext cx="167143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1B2B"/>
                </a:solidFill>
                <a:latin typeface="Courier New"/>
                <a:ea typeface="Courier New"/>
                <a:cs typeface="Courier New"/>
                <a:sym typeface="Courier New"/>
              </a:rPr>
              <a:t>decision_log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903" y="3540128"/>
            <a:ext cx="7572889" cy="45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Three related tables, linked by house_id.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7903" y="4640266"/>
            <a:ext cx="7572889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 — STREAMLIT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7738" y="5076825"/>
            <a:ext cx="6940153" cy="1028700"/>
            <a:chOff x="0" y="0"/>
            <a:chExt cx="9253538" cy="1371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16028" y="5297491"/>
            <a:ext cx="7049014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Price Check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6028" y="5640391"/>
            <a:ext cx="704901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Prediction, price range, and verdict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2975" y="6205740"/>
            <a:ext cx="6940153" cy="1028700"/>
            <a:chOff x="0" y="0"/>
            <a:chExt cx="9253538" cy="137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16028" y="6450016"/>
            <a:ext cx="7049014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Data Dashboard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6028" y="6792916"/>
            <a:ext cx="704901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407003" y="2324100"/>
            <a:ext cx="8938022" cy="7210425"/>
            <a:chOff x="0" y="0"/>
            <a:chExt cx="11917362" cy="9613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917299" cy="9613900"/>
            </a:xfrm>
            <a:custGeom>
              <a:avLst/>
              <a:gdLst/>
              <a:ahLst/>
              <a:cxnLst/>
              <a:rect l="l" t="t" r="r" b="b"/>
              <a:pathLst>
                <a:path w="11917299" h="96139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11866372" y="0"/>
                  </a:lnTo>
                  <a:cubicBezTo>
                    <a:pt x="11894565" y="0"/>
                    <a:pt x="11917299" y="22860"/>
                    <a:pt x="11917299" y="50927"/>
                  </a:cubicBezTo>
                  <a:lnTo>
                    <a:pt x="11917299" y="9562973"/>
                  </a:lnTo>
                  <a:cubicBezTo>
                    <a:pt x="11917299" y="9591167"/>
                    <a:pt x="11894439" y="9613900"/>
                    <a:pt x="11866372" y="9613900"/>
                  </a:cubicBezTo>
                  <a:lnTo>
                    <a:pt x="50927" y="9613900"/>
                  </a:lnTo>
                  <a:cubicBezTo>
                    <a:pt x="22860" y="9613900"/>
                    <a:pt x="0" y="9591040"/>
                    <a:pt x="0" y="956297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04" r="-53505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8733339" y="5792791"/>
            <a:ext cx="8285197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89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PLACEHOLDER: TERMINAL / ARCHITECTURE SCREENSHOT ]</a:t>
            </a:r>
          </a:p>
        </p:txBody>
      </p:sp>
      <p:grpSp>
        <p:nvGrpSpPr>
          <p:cNvPr id="29" name="Group 20">
            <a:extLst>
              <a:ext uri="{FF2B5EF4-FFF2-40B4-BE49-F238E27FC236}">
                <a16:creationId xmlns:a16="http://schemas.microsoft.com/office/drawing/2014/main" id="{2A4AEB6C-524D-4B78-6A82-35C1D4ED0070}"/>
              </a:ext>
            </a:extLst>
          </p:cNvPr>
          <p:cNvGrpSpPr/>
          <p:nvPr/>
        </p:nvGrpSpPr>
        <p:grpSpPr>
          <a:xfrm>
            <a:off x="925769" y="7381875"/>
            <a:ext cx="6940153" cy="1028700"/>
            <a:chOff x="0" y="0"/>
            <a:chExt cx="9253538" cy="1371600"/>
          </a:xfrm>
        </p:grpSpPr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185CA0AF-84EF-5EB1-2481-79A44ED74571}"/>
                </a:ext>
              </a:extLst>
            </p:cNvPr>
            <p:cNvSpPr/>
            <p:nvPr/>
          </p:nvSpPr>
          <p:spPr>
            <a:xfrm>
              <a:off x="0" y="0"/>
              <a:ext cx="9253601" cy="1371727"/>
            </a:xfrm>
            <a:custGeom>
              <a:avLst/>
              <a:gdLst/>
              <a:ahLst/>
              <a:cxnLst/>
              <a:rect l="l" t="t" r="r" b="b"/>
              <a:pathLst>
                <a:path w="9253601" h="1371727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9202293" y="0"/>
                  </a:lnTo>
                  <a:cubicBezTo>
                    <a:pt x="9230614" y="0"/>
                    <a:pt x="9253601" y="22987"/>
                    <a:pt x="9253601" y="51308"/>
                  </a:cubicBezTo>
                  <a:lnTo>
                    <a:pt x="9253601" y="1320419"/>
                  </a:lnTo>
                  <a:cubicBezTo>
                    <a:pt x="9253601" y="1348740"/>
                    <a:pt x="9230614" y="1371727"/>
                    <a:pt x="9202293" y="1371727"/>
                  </a:cubicBezTo>
                  <a:lnTo>
                    <a:pt x="51308" y="1371727"/>
                  </a:lnTo>
                  <a:cubicBezTo>
                    <a:pt x="22987" y="1371600"/>
                    <a:pt x="0" y="1348613"/>
                    <a:pt x="0" y="132029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6C83AFD-19D4-4ABA-6A41-8B761D5CBB96}"/>
              </a:ext>
            </a:extLst>
          </p:cNvPr>
          <p:cNvSpPr txBox="1"/>
          <p:nvPr/>
        </p:nvSpPr>
        <p:spPr>
          <a:xfrm>
            <a:off x="1125877" y="7568413"/>
            <a:ext cx="94758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25" b="1" dirty="0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Hidden Patterns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99F84A-3D7D-3691-89E3-1605E879BADD}"/>
              </a:ext>
            </a:extLst>
          </p:cNvPr>
          <p:cNvSpPr txBox="1"/>
          <p:nvPr/>
        </p:nvSpPr>
        <p:spPr>
          <a:xfrm>
            <a:off x="1108671" y="7919062"/>
            <a:ext cx="9475838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>Apriori — 250 rules mined, 65 predict price band (lift up to 3.25×)</a:t>
            </a:r>
            <a:r>
              <a:rPr lang="en-US" sz="1800" dirty="0" err="1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dirty="0">
                <a:solidFill>
                  <a:srgbClr val="596475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</p:txBody>
      </p:sp>
      <p:grpSp>
        <p:nvGrpSpPr>
          <p:cNvPr id="41" name="Group 7">
            <a:extLst>
              <a:ext uri="{FF2B5EF4-FFF2-40B4-BE49-F238E27FC236}">
                <a16:creationId xmlns:a16="http://schemas.microsoft.com/office/drawing/2014/main" id="{2FA42650-A8B3-BDE2-A9F8-20A697F9B67D}"/>
              </a:ext>
            </a:extLst>
          </p:cNvPr>
          <p:cNvGrpSpPr/>
          <p:nvPr/>
        </p:nvGrpSpPr>
        <p:grpSpPr>
          <a:xfrm>
            <a:off x="8341681" y="2349503"/>
            <a:ext cx="8998581" cy="7309055"/>
            <a:chOff x="0" y="0"/>
            <a:chExt cx="10515600" cy="4305300"/>
          </a:xfrm>
        </p:grpSpPr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44893A2B-C4D1-C741-5AF3-D54A00E81059}"/>
                </a:ext>
              </a:extLst>
            </p:cNvPr>
            <p:cNvSpPr/>
            <p:nvPr/>
          </p:nvSpPr>
          <p:spPr>
            <a:xfrm>
              <a:off x="0" y="0"/>
              <a:ext cx="10515600" cy="4305300"/>
            </a:xfrm>
            <a:custGeom>
              <a:avLst/>
              <a:gdLst/>
              <a:ahLst/>
              <a:cxnLst/>
              <a:rect l="l" t="t" r="r" b="b"/>
              <a:pathLst>
                <a:path w="10515600" h="43053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464800" y="0"/>
                  </a:lnTo>
                  <a:cubicBezTo>
                    <a:pt x="10492867" y="0"/>
                    <a:pt x="10515600" y="22733"/>
                    <a:pt x="10515600" y="50800"/>
                  </a:cubicBezTo>
                  <a:lnTo>
                    <a:pt x="10515600" y="4254500"/>
                  </a:lnTo>
                  <a:cubicBezTo>
                    <a:pt x="10515600" y="4282567"/>
                    <a:pt x="10492867" y="4305300"/>
                    <a:pt x="10464800" y="4305300"/>
                  </a:cubicBezTo>
                  <a:lnTo>
                    <a:pt x="50800" y="4305300"/>
                  </a:lnTo>
                  <a:cubicBezTo>
                    <a:pt x="22733" y="4305300"/>
                    <a:pt x="0" y="4282567"/>
                    <a:pt x="0" y="4254500"/>
                  </a:cubicBez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F34895B-B213-D6F7-AC5E-1292F6EA665F}"/>
              </a:ext>
            </a:extLst>
          </p:cNvPr>
          <p:cNvSpPr txBox="1"/>
          <p:nvPr/>
        </p:nvSpPr>
        <p:spPr>
          <a:xfrm>
            <a:off x="8627430" y="2606150"/>
            <a:ext cx="8463592" cy="135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can a buyer determine if their offer is Overpriced, Fair, or Underpriced?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Price Check page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1533CF-22CD-AD81-16DB-F13A659B0F37}"/>
              </a:ext>
            </a:extLst>
          </p:cNvPr>
          <p:cNvSpPr txBox="1"/>
          <p:nvPr/>
        </p:nvSpPr>
        <p:spPr>
          <a:xfrm>
            <a:off x="8591377" y="4033532"/>
            <a:ext cx="8121003" cy="193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are properties distributed geographically across the 18 districts of Johor?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Data Dashboard's geographic map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CE7538-F092-D634-2584-EA14383398B8}"/>
              </a:ext>
            </a:extLst>
          </p:cNvPr>
          <p:cNvSpPr txBox="1"/>
          <p:nvPr/>
        </p:nvSpPr>
        <p:spPr>
          <a:xfrm>
            <a:off x="8591378" y="6037995"/>
            <a:ext cx="8121003" cy="135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What hidden "If-Then" rules and bundling patterns exist within the property market?</a:t>
            </a: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Hidden Patterns / Apriori page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9DCEF6-DDD8-C5A5-192E-9FA179F302AA}"/>
              </a:ext>
            </a:extLst>
          </p:cNvPr>
          <p:cNvSpPr txBox="1"/>
          <p:nvPr/>
        </p:nvSpPr>
        <p:spPr>
          <a:xfrm>
            <a:off x="8640822" y="7465377"/>
            <a:ext cx="8377714" cy="193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533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How do we honestly communicate model uncertainty to users when data features are imperfect?</a:t>
            </a:r>
            <a:endParaRPr lang="en-US" sz="285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DD881B"/>
                </a:solidFill>
                <a:latin typeface="Courier New"/>
              </a:rPr>
              <a:t>→ Solved by: the ±15% honest-uncertainty range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2975" y="2324100"/>
            <a:ext cx="5225948" cy="6724650"/>
            <a:chOff x="0" y="0"/>
            <a:chExt cx="6967931" cy="896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67982" cy="8966200"/>
            </a:xfrm>
            <a:custGeom>
              <a:avLst/>
              <a:gdLst/>
              <a:ahLst/>
              <a:cxnLst/>
              <a:rect l="l" t="t" r="r" b="b"/>
              <a:pathLst>
                <a:path w="6967982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6928" y="0"/>
                  </a:lnTo>
                  <a:cubicBezTo>
                    <a:pt x="6945122" y="0"/>
                    <a:pt x="6967982" y="22860"/>
                    <a:pt x="6967982" y="51054"/>
                  </a:cubicBezTo>
                  <a:lnTo>
                    <a:pt x="6967982" y="8915146"/>
                  </a:lnTo>
                  <a:cubicBezTo>
                    <a:pt x="6967982" y="8943339"/>
                    <a:pt x="6945122" y="8966200"/>
                    <a:pt x="6916928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7" r="-115096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489129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530873" y="2324100"/>
            <a:ext cx="5226101" cy="6724650"/>
            <a:chOff x="0" y="0"/>
            <a:chExt cx="6968134" cy="8966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68236" cy="8966200"/>
            </a:xfrm>
            <a:custGeom>
              <a:avLst/>
              <a:gdLst/>
              <a:ahLst/>
              <a:cxnLst/>
              <a:rect l="l" t="t" r="r" b="b"/>
              <a:pathLst>
                <a:path w="6968236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7182" y="0"/>
                  </a:lnTo>
                  <a:cubicBezTo>
                    <a:pt x="6945375" y="0"/>
                    <a:pt x="6968236" y="22860"/>
                    <a:pt x="6968236" y="51054"/>
                  </a:cubicBezTo>
                  <a:lnTo>
                    <a:pt x="6968236" y="8915146"/>
                  </a:lnTo>
                  <a:cubicBezTo>
                    <a:pt x="6968236" y="8943339"/>
                    <a:pt x="6945375" y="8966200"/>
                    <a:pt x="6917182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2" r="-115090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7077027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18924" y="2324100"/>
            <a:ext cx="5226101" cy="6724650"/>
            <a:chOff x="0" y="0"/>
            <a:chExt cx="6968134" cy="8966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8236" cy="8966200"/>
            </a:xfrm>
            <a:custGeom>
              <a:avLst/>
              <a:gdLst/>
              <a:ahLst/>
              <a:cxnLst/>
              <a:rect l="l" t="t" r="r" b="b"/>
              <a:pathLst>
                <a:path w="6968236" h="8966200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6917182" y="0"/>
                  </a:lnTo>
                  <a:cubicBezTo>
                    <a:pt x="6945375" y="0"/>
                    <a:pt x="6968236" y="22860"/>
                    <a:pt x="6968236" y="51054"/>
                  </a:cubicBezTo>
                  <a:lnTo>
                    <a:pt x="6968236" y="8915146"/>
                  </a:lnTo>
                  <a:cubicBezTo>
                    <a:pt x="6968236" y="8943339"/>
                    <a:pt x="6945375" y="8966200"/>
                    <a:pt x="6917182" y="8966200"/>
                  </a:cubicBezTo>
                  <a:lnTo>
                    <a:pt x="51054" y="8966200"/>
                  </a:lnTo>
                  <a:cubicBezTo>
                    <a:pt x="22860" y="8966200"/>
                    <a:pt x="0" y="8943340"/>
                    <a:pt x="0" y="891514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092" r="-115090"/>
              </a:stretch>
            </a:blipFill>
            <a:ln w="19050" cap="sq">
              <a:solidFill>
                <a:srgbClr val="D3D8E0"/>
              </a:solidFill>
              <a:prstDash val="dash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665078" y="5549903"/>
            <a:ext cx="4133650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72">
                <a:solidFill>
                  <a:srgbClr val="596475"/>
                </a:solidFill>
                <a:latin typeface="Courier New"/>
                <a:ea typeface="Courier New"/>
                <a:cs typeface="Courier New"/>
                <a:sym typeface="Courier New"/>
              </a:rPr>
              <a:t>[ PLACEHOLDER SCREENSHOT ]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7903" y="2324100"/>
            <a:ext cx="5191020" cy="6724650"/>
            <a:chOff x="0" y="0"/>
            <a:chExt cx="804225" cy="1041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4"/>
              <a:stretch>
                <a:fillRect l="-49806" r="-11213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565954" y="2324100"/>
            <a:ext cx="5191020" cy="6724650"/>
            <a:chOff x="0" y="0"/>
            <a:chExt cx="804225" cy="10418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5"/>
              <a:stretch>
                <a:fillRect l="-51468" r="-11144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136393" y="2324100"/>
            <a:ext cx="5191020" cy="6724650"/>
            <a:chOff x="0" y="0"/>
            <a:chExt cx="804225" cy="10418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4225" cy="1041824"/>
            </a:xfrm>
            <a:custGeom>
              <a:avLst/>
              <a:gdLst/>
              <a:ahLst/>
              <a:cxnLst/>
              <a:rect l="l" t="t" r="r" b="b"/>
              <a:pathLst>
                <a:path w="804225" h="1041824">
                  <a:moveTo>
                    <a:pt x="0" y="0"/>
                  </a:moveTo>
                  <a:lnTo>
                    <a:pt x="804225" y="0"/>
                  </a:lnTo>
                  <a:lnTo>
                    <a:pt x="804225" y="1041824"/>
                  </a:lnTo>
                  <a:lnTo>
                    <a:pt x="0" y="1041824"/>
                  </a:lnTo>
                  <a:close/>
                </a:path>
              </a:pathLst>
            </a:custGeom>
            <a:blipFill>
              <a:blip r:embed="rId6"/>
              <a:stretch>
                <a:fillRect l="-57693" r="-99766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07 / SYSTEM DEMO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Three pages, one decision workflow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7556" y="9245603"/>
            <a:ext cx="5676795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Price Check page (gauge chart)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05445" y="9245603"/>
            <a:ext cx="567695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Data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93496" y="9245603"/>
            <a:ext cx="567695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Hidden Patterns / Apriori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 dirty="0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08 / MODEL COMPARISON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Random Forest gives the best fit and lowest error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405062"/>
            <a:ext cx="16392525" cy="3295650"/>
            <a:chOff x="0" y="0"/>
            <a:chExt cx="21856700" cy="4394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56700" cy="4394200"/>
            </a:xfrm>
            <a:custGeom>
              <a:avLst/>
              <a:gdLst/>
              <a:ahLst/>
              <a:cxnLst/>
              <a:rect l="l" t="t" r="r" b="b"/>
              <a:pathLst>
                <a:path w="21856700" h="4394200">
                  <a:moveTo>
                    <a:pt x="0" y="50927"/>
                  </a:moveTo>
                  <a:cubicBezTo>
                    <a:pt x="0" y="22860"/>
                    <a:pt x="22860" y="0"/>
                    <a:pt x="50927" y="0"/>
                  </a:cubicBezTo>
                  <a:lnTo>
                    <a:pt x="21805773" y="0"/>
                  </a:lnTo>
                  <a:cubicBezTo>
                    <a:pt x="21833839" y="0"/>
                    <a:pt x="21856700" y="22860"/>
                    <a:pt x="21856700" y="50927"/>
                  </a:cubicBezTo>
                  <a:lnTo>
                    <a:pt x="21856700" y="4343273"/>
                  </a:lnTo>
                  <a:cubicBezTo>
                    <a:pt x="21856700" y="4371340"/>
                    <a:pt x="21833839" y="4394200"/>
                    <a:pt x="21805773" y="4394200"/>
                  </a:cubicBezTo>
                  <a:lnTo>
                    <a:pt x="50927" y="4394200"/>
                  </a:lnTo>
                  <a:cubicBezTo>
                    <a:pt x="22860" y="4394200"/>
                    <a:pt x="0" y="4371340"/>
                    <a:pt x="0" y="434327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18" b="-46918"/>
              </a:stretch>
            </a:blip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62025" y="2419350"/>
            <a:ext cx="16363950" cy="790575"/>
            <a:chOff x="0" y="0"/>
            <a:chExt cx="21818600" cy="1054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18600" cy="1054100"/>
            </a:xfrm>
            <a:custGeom>
              <a:avLst/>
              <a:gdLst/>
              <a:ahLst/>
              <a:cxnLst/>
              <a:rect l="l" t="t" r="r" b="b"/>
              <a:pathLst>
                <a:path w="21818600" h="1054100">
                  <a:moveTo>
                    <a:pt x="0" y="0"/>
                  </a:moveTo>
                  <a:lnTo>
                    <a:pt x="21818600" y="0"/>
                  </a:lnTo>
                  <a:lnTo>
                    <a:pt x="21818600" y="1054100"/>
                  </a:lnTo>
                  <a:lnTo>
                    <a:pt x="0" y="1054100"/>
                  </a:lnTo>
                  <a:close/>
                </a:path>
              </a:pathLst>
            </a:custGeom>
            <a:solidFill>
              <a:srgbClr val="101B2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92228" y="2682878"/>
            <a:ext cx="608142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7684" y="26828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0570" y="2682878"/>
            <a:ext cx="271051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RMSE (RM)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3293" y="26828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MAE (RM)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62025" y="3209925"/>
            <a:ext cx="16363950" cy="838200"/>
            <a:chOff x="0" y="0"/>
            <a:chExt cx="21818600" cy="111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18600" cy="1117600"/>
            </a:xfrm>
            <a:custGeom>
              <a:avLst/>
              <a:gdLst/>
              <a:ahLst/>
              <a:cxnLst/>
              <a:rect l="l" t="t" r="r" b="b"/>
              <a:pathLst>
                <a:path w="21818600" h="1117600">
                  <a:moveTo>
                    <a:pt x="0" y="0"/>
                  </a:moveTo>
                  <a:lnTo>
                    <a:pt x="21818600" y="0"/>
                  </a:lnTo>
                  <a:lnTo>
                    <a:pt x="218186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62025" y="3209925"/>
            <a:ext cx="16363950" cy="9525"/>
            <a:chOff x="0" y="0"/>
            <a:chExt cx="218186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292228" y="3482978"/>
            <a:ext cx="6081427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37684" y="34829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0.656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10570" y="3482978"/>
            <a:ext cx="2710510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305,589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83293" y="34829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182,367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62025" y="4048125"/>
            <a:ext cx="16363950" cy="838200"/>
            <a:chOff x="0" y="0"/>
            <a:chExt cx="21818600" cy="1117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18600" cy="1117600"/>
            </a:xfrm>
            <a:custGeom>
              <a:avLst/>
              <a:gdLst/>
              <a:ahLst/>
              <a:cxnLst/>
              <a:rect l="l" t="t" r="r" b="b"/>
              <a:pathLst>
                <a:path w="21818600" h="1117600">
                  <a:moveTo>
                    <a:pt x="0" y="0"/>
                  </a:moveTo>
                  <a:lnTo>
                    <a:pt x="21818600" y="0"/>
                  </a:lnTo>
                  <a:lnTo>
                    <a:pt x="218186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62025" y="4048125"/>
            <a:ext cx="16363950" cy="9525"/>
            <a:chOff x="0" y="0"/>
            <a:chExt cx="21818600" cy="12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92228" y="4321178"/>
            <a:ext cx="6081427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37684" y="43211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0.511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10570" y="4321178"/>
            <a:ext cx="2710510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364,235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83293" y="4321178"/>
            <a:ext cx="2710663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185,119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2025" y="4886325"/>
            <a:ext cx="16363950" cy="800100"/>
            <a:chOff x="0" y="0"/>
            <a:chExt cx="21818600" cy="1066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818600" cy="1066800"/>
            </a:xfrm>
            <a:custGeom>
              <a:avLst/>
              <a:gdLst/>
              <a:ahLst/>
              <a:cxnLst/>
              <a:rect l="l" t="t" r="r" b="b"/>
              <a:pathLst>
                <a:path w="21818600" h="1066800">
                  <a:moveTo>
                    <a:pt x="0" y="0"/>
                  </a:moveTo>
                  <a:lnTo>
                    <a:pt x="21818600" y="0"/>
                  </a:lnTo>
                  <a:lnTo>
                    <a:pt x="218186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F7E4D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62025" y="4886325"/>
            <a:ext cx="16363950" cy="9525"/>
            <a:chOff x="0" y="0"/>
            <a:chExt cx="21818600" cy="12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818600" cy="12700"/>
            </a:xfrm>
            <a:custGeom>
              <a:avLst/>
              <a:gdLst/>
              <a:ahLst/>
              <a:cxnLst/>
              <a:rect l="l" t="t" r="r" b="b"/>
              <a:pathLst>
                <a:path w="21818600" h="12700">
                  <a:moveTo>
                    <a:pt x="0" y="0"/>
                  </a:moveTo>
                  <a:lnTo>
                    <a:pt x="21818600" y="0"/>
                  </a:lnTo>
                  <a:lnTo>
                    <a:pt x="2181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3D8E0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292228" y="5159378"/>
            <a:ext cx="608142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Random Forest (selected)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37684" y="51593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0.671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0570" y="5159378"/>
            <a:ext cx="271051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298,614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83293" y="5159378"/>
            <a:ext cx="271066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166,556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09 / BENCHMARKING AGAINST LITERATURE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Our result sits inside the published range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2501903"/>
            <a:ext cx="393065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Our result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876800" y="2586038"/>
            <a:ext cx="10820400" cy="95250"/>
            <a:chOff x="0" y="0"/>
            <a:chExt cx="14427200" cy="127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27200" cy="127000"/>
            </a:xfrm>
            <a:custGeom>
              <a:avLst/>
              <a:gdLst/>
              <a:ahLst/>
              <a:cxnLst/>
              <a:rect l="l" t="t" r="r" b="b"/>
              <a:pathLst>
                <a:path w="14427200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4363700" y="0"/>
                  </a:lnTo>
                  <a:cubicBezTo>
                    <a:pt x="14398752" y="0"/>
                    <a:pt x="14427200" y="28448"/>
                    <a:pt x="14427200" y="63500"/>
                  </a:cubicBezTo>
                  <a:cubicBezTo>
                    <a:pt x="14427200" y="98552"/>
                    <a:pt x="14398752" y="127000"/>
                    <a:pt x="14363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876800" y="2586038"/>
            <a:ext cx="6167590" cy="95250"/>
            <a:chOff x="0" y="0"/>
            <a:chExt cx="8223453" cy="12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3504" cy="127000"/>
            </a:xfrm>
            <a:custGeom>
              <a:avLst/>
              <a:gdLst/>
              <a:ahLst/>
              <a:cxnLst/>
              <a:rect l="l" t="t" r="r" b="b"/>
              <a:pathLst>
                <a:path w="8223504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8160004" y="0"/>
                  </a:lnTo>
                  <a:cubicBezTo>
                    <a:pt x="8195056" y="0"/>
                    <a:pt x="8223504" y="28448"/>
                    <a:pt x="8223504" y="63500"/>
                  </a:cubicBezTo>
                  <a:cubicBezTo>
                    <a:pt x="8223504" y="98552"/>
                    <a:pt x="8195056" y="127000"/>
                    <a:pt x="8160004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863415" y="2452688"/>
            <a:ext cx="361950" cy="361950"/>
            <a:chOff x="0" y="0"/>
            <a:chExt cx="482600" cy="482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600" cy="482600"/>
            </a:xfrm>
            <a:custGeom>
              <a:avLst/>
              <a:gdLst/>
              <a:ahLst/>
              <a:cxnLst/>
              <a:rect l="l" t="t" r="r" b="b"/>
              <a:pathLst>
                <a:path w="482600" h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9D530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5894053" y="2506666"/>
            <a:ext cx="141605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0.671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03" y="3235328"/>
            <a:ext cx="3677288" cy="58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Oh, Hang &amp; Wang (2024) — KL terrace houses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876800" y="3467100"/>
            <a:ext cx="10820400" cy="95250"/>
            <a:chOff x="0" y="0"/>
            <a:chExt cx="14427200" cy="12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27200" cy="127000"/>
            </a:xfrm>
            <a:custGeom>
              <a:avLst/>
              <a:gdLst/>
              <a:ahLst/>
              <a:cxnLst/>
              <a:rect l="l" t="t" r="r" b="b"/>
              <a:pathLst>
                <a:path w="14427200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4363700" y="0"/>
                  </a:lnTo>
                  <a:cubicBezTo>
                    <a:pt x="14398752" y="0"/>
                    <a:pt x="14427200" y="28448"/>
                    <a:pt x="14427200" y="63500"/>
                  </a:cubicBezTo>
                  <a:cubicBezTo>
                    <a:pt x="14427200" y="98552"/>
                    <a:pt x="14398752" y="127000"/>
                    <a:pt x="14363700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876800" y="3467100"/>
            <a:ext cx="8840238" cy="95250"/>
            <a:chOff x="0" y="0"/>
            <a:chExt cx="11786984" cy="127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786997" cy="127000"/>
            </a:xfrm>
            <a:custGeom>
              <a:avLst/>
              <a:gdLst/>
              <a:ahLst/>
              <a:cxnLst/>
              <a:rect l="l" t="t" r="r" b="b"/>
              <a:pathLst>
                <a:path w="11786997" h="127000">
                  <a:moveTo>
                    <a:pt x="0" y="63500"/>
                  </a:moveTo>
                  <a:cubicBezTo>
                    <a:pt x="0" y="28448"/>
                    <a:pt x="28448" y="0"/>
                    <a:pt x="63500" y="0"/>
                  </a:cubicBezTo>
                  <a:lnTo>
                    <a:pt x="11723497" y="0"/>
                  </a:lnTo>
                  <a:cubicBezTo>
                    <a:pt x="11758549" y="0"/>
                    <a:pt x="11786997" y="28448"/>
                    <a:pt x="11786997" y="63500"/>
                  </a:cubicBezTo>
                  <a:cubicBezTo>
                    <a:pt x="11786997" y="98552"/>
                    <a:pt x="11758549" y="127000"/>
                    <a:pt x="11723497" y="127000"/>
                  </a:cubicBezTo>
                  <a:lnTo>
                    <a:pt x="63500" y="127000"/>
                  </a:lnTo>
                  <a:cubicBezTo>
                    <a:pt x="28448" y="127000"/>
                    <a:pt x="0" y="98552"/>
                    <a:pt x="0" y="63500"/>
                  </a:cubicBezTo>
                  <a:close/>
                </a:path>
              </a:pathLst>
            </a:custGeom>
            <a:solidFill>
              <a:srgbClr val="596475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536063" y="3333750"/>
            <a:ext cx="361950" cy="361950"/>
            <a:chOff x="0" y="0"/>
            <a:chExt cx="482600" cy="482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2600" cy="482600"/>
            </a:xfrm>
            <a:custGeom>
              <a:avLst/>
              <a:gdLst/>
              <a:ahLst/>
              <a:cxnLst/>
              <a:rect l="l" t="t" r="r" b="b"/>
              <a:pathLst>
                <a:path w="482600" h="482600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lose/>
                </a:path>
              </a:pathLst>
            </a:custGeom>
            <a:solidFill>
              <a:srgbClr val="1F2C3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5951203" y="3197228"/>
            <a:ext cx="1358903" cy="66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>
                <a:solidFill>
                  <a:srgbClr val="1A2029"/>
                </a:solidFill>
                <a:latin typeface="Courier New"/>
                <a:ea typeface="Courier New"/>
                <a:cs typeface="Courier New"/>
                <a:sym typeface="Courier New"/>
              </a:rPr>
              <a:t>0.74–0.75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7903" y="4330703"/>
            <a:ext cx="15646403" cy="835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3C485B"/>
                </a:solidFill>
                <a:latin typeface="Arial"/>
                <a:ea typeface="Arial"/>
                <a:cs typeface="Arial"/>
                <a:sym typeface="Arial"/>
              </a:rPr>
              <a:t>Two independent datasets both land in the 0.65–0.75 range using basic listing-level features — this is the normal ceiling for this feature set, not a flaw in our data or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10 / FINDING — FEATURE IMPORTANCE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Bathrooms is a proxy for scale, not an independent driver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144966"/>
            <a:ext cx="7631020" cy="145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Bathrooms initially showed dominant importance (~0.67) — counter-intuitive, since location was expected to matter more.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03" y="5745166"/>
            <a:ext cx="7631020" cy="191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 b="1">
                <a:solidFill>
                  <a:srgbClr val="1F2C3F"/>
                </a:solidFill>
                <a:latin typeface="Arial Bold"/>
                <a:ea typeface="Arial Bold"/>
                <a:cs typeface="Arial Bold"/>
                <a:sym typeface="Arial Bold"/>
              </a:rPr>
              <a:t>Bathrooms acts as a proxy for overall property scale, not an independent price driver: multicollinearity was producing misleading feature importance.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939212" y="2328862"/>
            <a:ext cx="8401050" cy="7200900"/>
            <a:chOff x="0" y="0"/>
            <a:chExt cx="11201400" cy="960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01400" cy="9601200"/>
            </a:xfrm>
            <a:custGeom>
              <a:avLst/>
              <a:gdLst/>
              <a:ahLst/>
              <a:cxnLst/>
              <a:rect l="l" t="t" r="r" b="b"/>
              <a:pathLst>
                <a:path w="11201400" h="9601200">
                  <a:moveTo>
                    <a:pt x="0" y="50927"/>
                  </a:moveTo>
                  <a:cubicBezTo>
                    <a:pt x="0" y="22733"/>
                    <a:pt x="22733" y="0"/>
                    <a:pt x="50927" y="0"/>
                  </a:cubicBezTo>
                  <a:lnTo>
                    <a:pt x="11150473" y="0"/>
                  </a:lnTo>
                  <a:cubicBezTo>
                    <a:pt x="11178667" y="0"/>
                    <a:pt x="11201400" y="22733"/>
                    <a:pt x="11201400" y="50927"/>
                  </a:cubicBezTo>
                  <a:lnTo>
                    <a:pt x="11201400" y="9550273"/>
                  </a:lnTo>
                  <a:cubicBezTo>
                    <a:pt x="11201400" y="9578340"/>
                    <a:pt x="11178667" y="9601200"/>
                    <a:pt x="11150473" y="9601200"/>
                  </a:cubicBezTo>
                  <a:lnTo>
                    <a:pt x="50927" y="9601200"/>
                  </a:lnTo>
                  <a:cubicBezTo>
                    <a:pt x="22733" y="9601200"/>
                    <a:pt x="0" y="9578467"/>
                    <a:pt x="0" y="955027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436103" y="4906966"/>
            <a:ext cx="8153086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3C485B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 WITH BATHROOMS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6103" y="5554666"/>
            <a:ext cx="119756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Bedrooms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76834" y="5554666"/>
            <a:ext cx="6427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0.80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10700" y="5929312"/>
            <a:ext cx="7458075" cy="152400"/>
            <a:chOff x="0" y="0"/>
            <a:chExt cx="9944100" cy="203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44100" cy="203200"/>
            </a:xfrm>
            <a:custGeom>
              <a:avLst/>
              <a:gdLst/>
              <a:ahLst/>
              <a:cxnLst/>
              <a:rect l="l" t="t" r="r" b="b"/>
              <a:pathLst>
                <a:path w="994410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842500" y="0"/>
                  </a:lnTo>
                  <a:cubicBezTo>
                    <a:pt x="9898634" y="0"/>
                    <a:pt x="9944100" y="45466"/>
                    <a:pt x="9944100" y="101600"/>
                  </a:cubicBezTo>
                  <a:cubicBezTo>
                    <a:pt x="9944100" y="157734"/>
                    <a:pt x="9898634" y="203200"/>
                    <a:pt x="984250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410700" y="5929312"/>
            <a:ext cx="5966374" cy="152400"/>
            <a:chOff x="0" y="0"/>
            <a:chExt cx="7955166" cy="203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55153" cy="203200"/>
            </a:xfrm>
            <a:custGeom>
              <a:avLst/>
              <a:gdLst/>
              <a:ahLst/>
              <a:cxnLst/>
              <a:rect l="l" t="t" r="r" b="b"/>
              <a:pathLst>
                <a:path w="795515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853553" y="0"/>
                  </a:lnTo>
                  <a:cubicBezTo>
                    <a:pt x="7909687" y="0"/>
                    <a:pt x="7955153" y="45466"/>
                    <a:pt x="7955153" y="101600"/>
                  </a:cubicBezTo>
                  <a:cubicBezTo>
                    <a:pt x="7955153" y="157734"/>
                    <a:pt x="7909687" y="203200"/>
                    <a:pt x="785355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436103" y="6440491"/>
            <a:ext cx="155324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01B2B"/>
                </a:solidFill>
                <a:latin typeface="Arial"/>
                <a:ea typeface="Arial"/>
                <a:cs typeface="Arial"/>
                <a:sym typeface="Arial"/>
              </a:rPr>
              <a:t>Built-up area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276834" y="6440491"/>
            <a:ext cx="6427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0.62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10700" y="6815138"/>
            <a:ext cx="7458075" cy="152400"/>
            <a:chOff x="0" y="0"/>
            <a:chExt cx="9944100" cy="203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44100" cy="203200"/>
            </a:xfrm>
            <a:custGeom>
              <a:avLst/>
              <a:gdLst/>
              <a:ahLst/>
              <a:cxnLst/>
              <a:rect l="l" t="t" r="r" b="b"/>
              <a:pathLst>
                <a:path w="9944100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842500" y="0"/>
                  </a:lnTo>
                  <a:cubicBezTo>
                    <a:pt x="9898634" y="0"/>
                    <a:pt x="9944100" y="45466"/>
                    <a:pt x="9944100" y="101600"/>
                  </a:cubicBezTo>
                  <a:cubicBezTo>
                    <a:pt x="9944100" y="157734"/>
                    <a:pt x="9898634" y="203200"/>
                    <a:pt x="984250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E5E8E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10700" y="6815138"/>
            <a:ext cx="4623940" cy="152400"/>
            <a:chOff x="0" y="0"/>
            <a:chExt cx="6165253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65215" cy="203200"/>
            </a:xfrm>
            <a:custGeom>
              <a:avLst/>
              <a:gdLst/>
              <a:ahLst/>
              <a:cxnLst/>
              <a:rect l="l" t="t" r="r" b="b"/>
              <a:pathLst>
                <a:path w="6165215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063615" y="0"/>
                  </a:lnTo>
                  <a:cubicBezTo>
                    <a:pt x="6119749" y="0"/>
                    <a:pt x="6165215" y="45466"/>
                    <a:pt x="6165215" y="101600"/>
                  </a:cubicBezTo>
                  <a:cubicBezTo>
                    <a:pt x="6165215" y="157734"/>
                    <a:pt x="6119749" y="203200"/>
                    <a:pt x="6063615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11 / 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Two limitations bound how far these results generalize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7738" y="2481262"/>
            <a:ext cx="7972425" cy="7048500"/>
            <a:chOff x="0" y="0"/>
            <a:chExt cx="10629900" cy="939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29900" cy="9398000"/>
            </a:xfrm>
            <a:custGeom>
              <a:avLst/>
              <a:gdLst/>
              <a:ahLst/>
              <a:cxnLst/>
              <a:rect l="l" t="t" r="r" b="b"/>
              <a:pathLst>
                <a:path w="10629900" h="9398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579100" y="0"/>
                  </a:lnTo>
                  <a:cubicBezTo>
                    <a:pt x="10607167" y="0"/>
                    <a:pt x="10629900" y="22733"/>
                    <a:pt x="10629900" y="50800"/>
                  </a:cubicBezTo>
                  <a:lnTo>
                    <a:pt x="10629900" y="9347200"/>
                  </a:lnTo>
                  <a:cubicBezTo>
                    <a:pt x="10629900" y="9375267"/>
                    <a:pt x="10607167" y="9398000"/>
                    <a:pt x="10579100" y="9398000"/>
                  </a:cubicBezTo>
                  <a:lnTo>
                    <a:pt x="50800" y="9398000"/>
                  </a:lnTo>
                  <a:cubicBezTo>
                    <a:pt x="22733" y="9398000"/>
                    <a:pt x="0" y="9375267"/>
                    <a:pt x="0" y="93472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482728" y="2968628"/>
            <a:ext cx="759777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Missing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2728" y="3406778"/>
            <a:ext cx="7111051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Error is largely driven by features not present in the data: age, renovation, orientation, and parking.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67838" y="2481262"/>
            <a:ext cx="7972425" cy="7048500"/>
            <a:chOff x="0" y="0"/>
            <a:chExt cx="10629900" cy="939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29900" cy="9398000"/>
            </a:xfrm>
            <a:custGeom>
              <a:avLst/>
              <a:gdLst/>
              <a:ahLst/>
              <a:cxnLst/>
              <a:rect l="l" t="t" r="r" b="b"/>
              <a:pathLst>
                <a:path w="10629900" h="93980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0579100" y="0"/>
                  </a:lnTo>
                  <a:cubicBezTo>
                    <a:pt x="10607167" y="0"/>
                    <a:pt x="10629900" y="22733"/>
                    <a:pt x="10629900" y="50800"/>
                  </a:cubicBezTo>
                  <a:lnTo>
                    <a:pt x="10629900" y="9347200"/>
                  </a:lnTo>
                  <a:cubicBezTo>
                    <a:pt x="10629900" y="9375267"/>
                    <a:pt x="10607167" y="9398000"/>
                    <a:pt x="10579100" y="9398000"/>
                  </a:cubicBezTo>
                  <a:lnTo>
                    <a:pt x="50800" y="9398000"/>
                  </a:lnTo>
                  <a:cubicBezTo>
                    <a:pt x="22733" y="9398000"/>
                    <a:pt x="0" y="9375267"/>
                    <a:pt x="0" y="934720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3D8E0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902828" y="2968628"/>
            <a:ext cx="7597778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Selection bias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2828" y="3406778"/>
            <a:ext cx="7111051" cy="99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Listing prices exceed transacted prices; the model may overestimate rural or older properties.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1A2029"/>
                </a:solidFill>
                <a:latin typeface="Arial"/>
              </a:rPr>
              <a:t>Root cause: asking price is the seller/developer's opening offer, shaped by marketing and financing strategy - not the supply-demand equilibrium price. The model captures what sellers ask, not market-clearing dynamics.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87312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9D5300"/>
                </a:solidFill>
                <a:latin typeface="Courier New"/>
                <a:ea typeface="Courier New"/>
                <a:cs typeface="Courier New"/>
                <a:sym typeface="Courier New"/>
              </a:rPr>
              <a:t>12 / 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1349378"/>
            <a:ext cx="1797050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01B2B"/>
                </a:solidFill>
                <a:latin typeface="Arial Bold"/>
                <a:ea typeface="Arial Bold"/>
                <a:cs typeface="Arial Bold"/>
                <a:sym typeface="Arial Bold"/>
              </a:rPr>
              <a:t>Four directions to extend this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2543175"/>
            <a:ext cx="114300" cy="114300"/>
            <a:chOff x="0" y="0"/>
            <a:chExt cx="152400" cy="152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20803" y="2339978"/>
            <a:ext cx="7684541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Scrape detail pages for age, renovation, and tenure.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2500" y="3228975"/>
            <a:ext cx="114300" cy="114300"/>
            <a:chOff x="0" y="0"/>
            <a:chExt cx="152400" cy="152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320803" y="3025778"/>
            <a:ext cx="7719250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Incorporate real transacted prices (NAPIC / List.my).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2500" y="3914775"/>
            <a:ext cx="114300" cy="114300"/>
            <a:chOff x="0" y="0"/>
            <a:chExt cx="152400" cy="152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320803" y="3711578"/>
            <a:ext cx="7104678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Flag low-sample-area estimates as less reliable.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00" y="4600575"/>
            <a:ext cx="114300" cy="114300"/>
            <a:chOff x="0" y="0"/>
            <a:chExt cx="152400" cy="15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DD881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20803" y="4397378"/>
            <a:ext cx="14895681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1A2029"/>
                </a:solidFill>
                <a:latin typeface="Arial"/>
                <a:ea typeface="Arial"/>
                <a:cs typeface="Arial"/>
                <a:sym typeface="Arial"/>
              </a:rPr>
              <a:t>Explore model ensembling — validate against the current baseline rather than assume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03" y="3101978"/>
            <a:ext cx="1797050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144">
                <a:solidFill>
                  <a:srgbClr val="DD881B"/>
                </a:solidFill>
                <a:latin typeface="Courier New"/>
                <a:ea typeface="Courier New"/>
                <a:cs typeface="Courier New"/>
                <a:sym typeface="Courier New"/>
              </a:rPr>
              <a:t>13 / 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903" y="3578228"/>
            <a:ext cx="1566545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 working decision support system for Johor property prices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903" y="4416428"/>
            <a:ext cx="15665453" cy="53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r>
              <a:rPr lang="en-US" sz="2400">
                <a:solidFill>
                  <a:srgbClr val="C8CED8"/>
                </a:solidFill>
                <a:latin typeface="Arial"/>
                <a:ea typeface="Arial"/>
                <a:cs typeface="Arial"/>
                <a:sym typeface="Arial"/>
              </a:rPr>
              <a:t>Its value lies not in a high R² figure, but in honest uncertainty communication and analytical rigor.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6105525"/>
            <a:ext cx="16383000" cy="9525"/>
            <a:chOff x="0" y="0"/>
            <a:chExt cx="21844000" cy="12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844000" cy="12700"/>
            </a:xfrm>
            <a:custGeom>
              <a:avLst/>
              <a:gdLst/>
              <a:ahLst/>
              <a:cxnLst/>
              <a:rect l="l" t="t" r="r" b="b"/>
              <a:pathLst>
                <a:path w="21844000" h="127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94353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977903" y="6502403"/>
            <a:ext cx="17970503" cy="71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1100</Words>
  <Application>Microsoft Office PowerPoint</Application>
  <PresentationFormat>Custom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Courier New</vt:lpstr>
      <vt:lpstr>Arial Bold</vt:lpstr>
      <vt:lpstr>Courier New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Johor_Property_Price_new.pptx</dc:title>
  <cp:lastModifiedBy>LEE WEN XIN</cp:lastModifiedBy>
  <cp:revision>2</cp:revision>
  <dcterms:created xsi:type="dcterms:W3CDTF">2006-08-16T00:00:00Z</dcterms:created>
  <dcterms:modified xsi:type="dcterms:W3CDTF">2026-07-14T02:02:37Z</dcterms:modified>
  <dc:identifier>DAHPLMctbic</dc:identifier>
</cp:coreProperties>
</file>